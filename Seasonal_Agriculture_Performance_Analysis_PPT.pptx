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7" r:id="rId26"/>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  <Relationship Id="rId26" Type="http://schemas.openxmlformats.org/officeDocument/2006/relationships/slide" Target="slides/slide15.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yield_profit.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environment.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resource.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crop_profit.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state_yield.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ertificate.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_correlation.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Madhavan Reddiar</a:t>
            </a:r>
            <a:endParaRPr lang="en-IN" b="0" dirty="0">
              <a:solidFill>
                <a:schemeClr val="tx1"/>
              </a:solidFill>
            </a:endParaRPr>
          </a:p>
          <a:p>
            <a:pPr algn="r"/>
            <a:r>
              <a:rPr lang="en-US" b="0" dirty="0">
                <a:solidFill>
                  <a:schemeClr val="tx1"/>
                </a:solidFill>
              </a:rPr>
              <a:t>SIES College, B.Sc Information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VOIS AICTE Batch 1 2026-2027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30000"/>
              </a:lnSpc>
            </a:pPr>
            <a:r>
              <a:rPr lang="en-IN" sz="1800" dirty="0"/>
              <a:t>Agricultural performance is influenced by seasonal variations in rainfall, temperature, soil conditions, resource use and market conditions.</a:t>
            </a:r>
          </a:p>
          <a:p>
            <a:pPr>
              <a:lnSpc>
                <a:spcPct val="130000"/>
              </a:lnSpc>
            </a:pPr>
            <a:r>
              <a:rPr lang="en-IN" sz="1800" dirty="0"/>
              <a:t>Raw agricultural data does not clearly explain how performance changes across seasons or what patterns exist.</a:t>
            </a:r>
          </a:p>
          <a:p>
            <a:pPr>
              <a:lnSpc>
                <a:spcPct val="130000"/>
              </a:lnSpc>
            </a:pPr>
            <a:r>
              <a:rPr lang="en-IN" sz="1800" dirty="0"/>
              <a:t>The problem is to analyze seasonal agricultural data and identify meaningful patterns, trends, relationships and variations in performance across Kharif, Rabi and Zaid seasons.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The dataset covers 4000 farm records across 8 Indian states, 8 crops and 3 seasons (Kharif, Rabi, Zaid), capturing environmental conditions, resource usage (fertilizer, pesticide, water, NPK), and economic outcomes (yield, cost, revenue, profit). The project cleans and explores this data to uncover seasonal patterns and relationships, and derive evidence-based recommendations for agricultural planning.</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285750" indent="-285750">
              <a:lnSpc>
                <a:spcPct val="150000"/>
              </a:lnSpc>
              <a:buFont typeface="Arial" pitchFamily="34" charset="0"/>
              <a:buChar char="•"/>
            </a:pPr>
            <a:r>
              <a:rPr lang="en-IN" sz="2000" dirty="0"/>
              <a:t>Farmers and agricultural cooperatives planning seasonal crop and resource decisions</a:t>
            </a:r>
          </a:p>
          <a:p>
            <a:pPr marL="285750" indent="-285750">
              <a:lnSpc>
                <a:spcPct val="150000"/>
              </a:lnSpc>
              <a:buFont typeface="Arial" pitchFamily="34" charset="0"/>
              <a:buChar char="•"/>
            </a:pPr>
            <a:r>
              <a:rPr lang="en-IN" sz="2000" dirty="0"/>
              <a:t>Government agricultural policy makers and planning departments</a:t>
            </a:r>
          </a:p>
          <a:p>
            <a:pPr marL="285750" indent="-285750">
              <a:lnSpc>
                <a:spcPct val="150000"/>
              </a:lnSpc>
              <a:buFont typeface="Arial" pitchFamily="34" charset="0"/>
              <a:buChar char="•"/>
            </a:pPr>
            <a:r>
              <a:rPr lang="en-IN" sz="2000" dirty="0"/>
              <a:t>Agribusiness and supply chain companies forecasting seasonal output</a:t>
            </a:r>
          </a:p>
          <a:p>
            <a:pPr marL="285750" indent="-285750">
              <a:lnSpc>
                <a:spcPct val="150000"/>
              </a:lnSpc>
              <a:buFont typeface="Arial" pitchFamily="34" charset="0"/>
              <a:buChar char="•"/>
            </a:pPr>
            <a:r>
              <a:rPr lang="en-IN" sz="2000" dirty="0"/>
              <a:t>Researchers and data analysts studying seasonal agricultural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285750" indent="-285750">
              <a:lnSpc>
                <a:spcPct val="150000"/>
              </a:lnSpc>
              <a:buFont typeface="Arial" pitchFamily="34" charset="0"/>
              <a:buChar char="•"/>
            </a:pPr>
            <a:r>
              <a:rPr lang="en-IN" sz="2000" dirty="0"/>
              <a:t>Python – Pandas, NumPy for data cleaning and analysis</a:t>
            </a:r>
          </a:p>
          <a:p>
            <a:pPr marL="285750" indent="-285750">
              <a:lnSpc>
                <a:spcPct val="150000"/>
              </a:lnSpc>
              <a:buFont typeface="Arial" pitchFamily="34" charset="0"/>
              <a:buChar char="•"/>
            </a:pPr>
            <a:r>
              <a:rPr lang="en-IN" sz="2000" dirty="0"/>
              <a:t>Matplotlib &amp; Seaborn for data visualization</a:t>
            </a:r>
          </a:p>
          <a:p>
            <a:pPr marL="285750" indent="-285750">
              <a:lnSpc>
                <a:spcPct val="150000"/>
              </a:lnSpc>
              <a:buFont typeface="Arial" pitchFamily="34" charset="0"/>
              <a:buChar char="•"/>
            </a:pPr>
            <a:r>
              <a:rPr lang="en-IN" sz="2000" dirty="0"/>
              <a:t>SciPy for statistical testing (ANOVA)</a:t>
            </a:r>
          </a:p>
          <a:p>
            <a:pPr marL="285750" indent="-285750">
              <a:lnSpc>
                <a:spcPct val="150000"/>
              </a:lnSpc>
              <a:buFont typeface="Arial" pitchFamily="34" charset="0"/>
              <a:buChar char="•"/>
            </a:pPr>
            <a:r>
              <a:rPr lang="en-IN" sz="2000" dirty="0"/>
              <a:t>Google Colab / Jupyter Notebook as the development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8500000" cy="830997"/>
          </a:xfrm>
        </p:spPr>
        <p:txBody>
          <a:bodyPr>
            <a:normAutofit/>
          </a:bodyPr>
          <a:lstStyle/>
          <a:p>
            <a:r>
              <a:rPr lang="en-GB" dirty="0"/>
              <a:t>Seasonal Yield &amp; Profit Comparison</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71500" y="1300200"/>
            <a:ext cx="8000000" cy="700000"/>
          </a:xfrm>
        </p:spPr>
        <p:txBody>
          <a:bodyPr vert="horz" lIns="91440" tIns="45720" rIns="91440" bIns="45720" rtlCol="0" anchor="t">
            <a:normAutofit/>
          </a:bodyPr>
          <a:lstStyle/>
          <a:p>
            <a:pPr marL="0" indent="0">
              <a:buNone/>
            </a:pPr>
            <a:r>
              <a:rPr lang="en-US" dirty="0"/>
              <a:t>Yield and profit both vary meaningfully across Kharif, Rabi and Zaid seasons.</a:t>
            </a:r>
            <a:endParaRPr lang="en-IN" dirty="0"/>
          </a:p>
        </p:txBody>
      </p:sp>
      <p:pic>
        <p:nvPicPr>
          <p:cNvPr id="500" name="Chart"/>
          <p:cNvPicPr>
            <a:picLocks noChangeAspect="1"/>
          </p:cNvPicPr>
          <p:nvPr/>
        </p:nvPicPr>
        <p:blipFill>
          <a:blip r:embed="rId3"/>
          <a:stretch>
            <a:fillRect/>
          </a:stretch>
        </p:blipFill>
        <p:spPr>
          <a:xfrm>
            <a:off x="571500" y="2965953"/>
            <a:ext cx="7772400" cy="271809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500000" cy="830997"/>
          </a:xfrm>
        </p:spPr>
        <p:txBody>
          <a:bodyPr>
            <a:normAutofit/>
          </a:bodyPr>
          <a:lstStyle/>
          <a:p>
            <a:r>
              <a:rPr lang="en-GB" dirty="0"/>
              <a:t>Environmental Conditions by Season</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71500" y="1300200"/>
            <a:ext cx="8000000" cy="700000"/>
          </a:xfrm>
        </p:spPr>
        <p:txBody>
          <a:bodyPr/>
          <a:lstStyle/>
          <a:p>
            <a:pPr marL="0" indent="0">
              <a:buNone/>
            </a:pPr>
            <a:r>
              <a:rPr lang="en-US" dirty="0"/>
              <a:t>Rainfall, temperature, humidity, sunlight and soil moisture follow distinct seasonal cycles.</a:t>
            </a:r>
            <a:endParaRPr lang="en-IN" dirty="0"/>
          </a:p>
        </p:txBody>
      </p:sp>
      <p:pic>
        <p:nvPicPr>
          <p:cNvPr id="500" name="Chart"/>
          <p:cNvPicPr>
            <a:picLocks noChangeAspect="1"/>
          </p:cNvPicPr>
          <p:nvPr/>
        </p:nvPicPr>
        <p:blipFill>
          <a:blip r:embed="rId3"/>
          <a:stretch>
            <a:fillRect/>
          </a:stretch>
        </p:blipFill>
        <p:spPr>
          <a:xfrm>
            <a:off x="571500" y="2400029"/>
            <a:ext cx="7772400" cy="384994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8500000" cy="830997"/>
          </a:xfrm>
        </p:spPr>
        <p:txBody>
          <a:bodyPr>
            <a:normAutofit/>
          </a:bodyPr>
          <a:lstStyle/>
          <a:p>
            <a:r>
              <a:rPr lang="en-GB" dirty="0"/>
              <a:t>Resource Usage &amp; Water Efficiency</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571500" y="1300200"/>
            <a:ext cx="8000000" cy="700000"/>
          </a:xfrm>
        </p:spPr>
        <p:txBody>
          <a:bodyPr/>
          <a:lstStyle/>
          <a:p>
            <a:pPr marL="0" indent="0">
              <a:buNone/>
            </a:pPr>
            <a:r>
              <a:rPr lang="en-US" dirty="0"/>
              <a:t>Fertilizer use and water efficiency by irrigation method differ across seasons.</a:t>
            </a:r>
            <a:endParaRPr lang="en-IN" dirty="0"/>
          </a:p>
        </p:txBody>
      </p:sp>
      <p:pic>
        <p:nvPicPr>
          <p:cNvPr id="500" name="Chart"/>
          <p:cNvPicPr>
            <a:picLocks noChangeAspect="1"/>
          </p:cNvPicPr>
          <p:nvPr/>
        </p:nvPicPr>
        <p:blipFill>
          <a:blip r:embed="rId3"/>
          <a:stretch>
            <a:fillRect/>
          </a:stretch>
        </p:blipFill>
        <p:spPr>
          <a:xfrm>
            <a:off x="571500" y="2964970"/>
            <a:ext cx="7772400" cy="272005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8500000" cy="830997"/>
          </a:xfrm>
        </p:spPr>
        <p:txBody>
          <a:bodyPr>
            <a:normAutofit/>
          </a:bodyPr>
          <a:lstStyle/>
          <a:p>
            <a:r>
              <a:rPr lang="en-GB" dirty="0"/>
              <a:t>Crop-wise Profit by Season</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571500" y="1300200"/>
            <a:ext cx="8000000" cy="700000"/>
          </a:xfrm>
        </p:spPr>
        <p:txBody>
          <a:bodyPr/>
          <a:lstStyle/>
          <a:p>
            <a:pPr marL="0" indent="0">
              <a:buNone/>
            </a:pPr>
            <a:r>
              <a:rPr lang="en-US" dirty="0"/>
              <a:t>Profitability of each crop changes depending on the season it is grown in.</a:t>
            </a:r>
            <a:endParaRPr lang="en-IN" dirty="0"/>
          </a:p>
        </p:txBody>
      </p:sp>
      <p:pic>
        <p:nvPicPr>
          <p:cNvPr id="500" name="Chart"/>
          <p:cNvPicPr>
            <a:picLocks noChangeAspect="1"/>
          </p:cNvPicPr>
          <p:nvPr/>
        </p:nvPicPr>
        <p:blipFill>
          <a:blip r:embed="rId3"/>
          <a:stretch>
            <a:fillRect/>
          </a:stretch>
        </p:blipFill>
        <p:spPr>
          <a:xfrm>
            <a:off x="571500" y="2557445"/>
            <a:ext cx="7772400" cy="353511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500000" cy="830997"/>
          </a:xfrm>
        </p:spPr>
        <p:txBody>
          <a:bodyPr>
            <a:normAutofit/>
          </a:bodyPr>
          <a:lstStyle/>
          <a:p>
            <a:r>
              <a:rPr lang="en-GB" dirty="0"/>
              <a:t>Average Yield by State &amp; Season</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71500" y="1300200"/>
            <a:ext cx="8000000" cy="700000"/>
          </a:xfrm>
        </p:spPr>
        <p:txBody>
          <a:bodyPr/>
          <a:lstStyle/>
          <a:p>
            <a:pPr marL="0" indent="0">
              <a:buNone/>
            </a:pPr>
            <a:r>
              <a:rPr lang="en-US" dirty="0"/>
              <a:t>Regional yield performance is not uniform – the best season varies by state.</a:t>
            </a:r>
            <a:endParaRPr lang="en-IN" dirty="0"/>
          </a:p>
        </p:txBody>
      </p:sp>
      <p:pic>
        <p:nvPicPr>
          <p:cNvPr id="500" name="Chart"/>
          <p:cNvPicPr>
            <a:picLocks noChangeAspect="1"/>
          </p:cNvPicPr>
          <p:nvPr/>
        </p:nvPicPr>
        <p:blipFill>
          <a:blip r:embed="rId3"/>
          <a:stretch>
            <a:fillRect/>
          </a:stretch>
        </p:blipFill>
        <p:spPr>
          <a:xfrm>
            <a:off x="1392771" y="2150000"/>
            <a:ext cx="6129857" cy="43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00" name="Future Scope Content"/>
          <p:cNvSpPr txBox="1"/>
          <p:nvPr/>
        </p:nvSpPr>
        <p:spPr>
          <a:xfrm>
            <a:off x="754602" y="1875556"/>
            <a:ext cx="9027702" cy="3607987"/>
          </a:xfrm>
          <a:prstGeom prst="rect">
            <a:avLst/>
          </a:prstGeom>
          <a:noFill/>
        </p:spPr>
        <p:txBody>
          <a:bodyPr wrap="square" rtlCol="0">
            <a:normAutofit/>
          </a:bodyPr>
          <a:lstStyle/>
          <a:p>
            <a:pPr marL="285750" indent="-285750">
              <a:lnSpc>
                <a:spcPct val="150000"/>
              </a:lnSpc>
              <a:buFont typeface="Arial" pitchFamily="34" charset="0"/>
              <a:buChar char="•"/>
            </a:pPr>
            <a:r>
              <a:rPr lang="en-IN" sz="1800" dirty="0"/>
              <a:t>Build predictive models to forecast seasonal yield and profit</a:t>
            </a:r>
          </a:p>
          <a:p>
            <a:pPr marL="285750" indent="-285750">
              <a:lnSpc>
                <a:spcPct val="150000"/>
              </a:lnSpc>
              <a:buFont typeface="Arial" pitchFamily="34" charset="0"/>
              <a:buChar char="•"/>
            </a:pPr>
            <a:r>
              <a:rPr lang="en-IN" sz="1800" dirty="0"/>
              <a:t>Integrate real-time weather and market price data</a:t>
            </a:r>
          </a:p>
          <a:p>
            <a:pPr marL="285750" indent="-285750">
              <a:lnSpc>
                <a:spcPct val="150000"/>
              </a:lnSpc>
              <a:buFont typeface="Arial" pitchFamily="34" charset="0"/>
              <a:buChar char="•"/>
            </a:pPr>
            <a:r>
              <a:rPr lang="en-IN" sz="1800" dirty="0"/>
              <a:t>Develop a district-level crop and irrigation recommendation system</a:t>
            </a:r>
          </a:p>
          <a:p>
            <a:pPr marL="285750" indent="-285750">
              <a:lnSpc>
                <a:spcPct val="150000"/>
              </a:lnSpc>
              <a:buFont typeface="Arial" pitchFamily="34" charset="0"/>
              <a:buChar char="•"/>
            </a:pPr>
            <a:r>
              <a:rPr lang="en-IN" sz="1800" dirty="0"/>
              <a:t>Study the long-term impact of climate change on seasonal patterns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00" name="GitHub Link Content"/>
          <p:cNvSpPr txBox="1"/>
          <p:nvPr/>
        </p:nvSpPr>
        <p:spPr>
          <a:xfrm>
            <a:off x="754602" y="1875556"/>
            <a:ext cx="9027702" cy="1000000"/>
          </a:xfrm>
          <a:prstGeom prst="rect">
            <a:avLst/>
          </a:prstGeom>
          <a:noFill/>
        </p:spPr>
        <p:txBody>
          <a:bodyPr wrap="square" rtlCol="0">
            <a:normAutofit/>
          </a:bodyPr>
          <a:lstStyle/>
          <a:p>
            <a:pPr marL="285750" indent="-285750">
              <a:lnSpc>
                <a:spcPct val="150000"/>
              </a:lnSpc>
              <a:buFont typeface="Arial" pitchFamily="34" charset="0"/>
              <a:buChar char="•"/>
            </a:pPr>
            <a:r>
              <a:rPr lang="en-IN" sz="2000" dirty="0"/>
              <a:t>[Insert your GitHub repository link here]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00" name="Certificate"/>
          <p:cNvPicPr>
            <a:picLocks noChangeAspect="1"/>
          </p:cNvPicPr>
          <p:nvPr/>
        </p:nvPicPr>
        <p:blipFill>
          <a:blip r:embed="rId3"/>
          <a:stretch>
            <a:fillRect/>
          </a:stretch>
        </p:blipFill>
        <p:spPr>
          <a:xfrm>
            <a:off x="1524000" y="1638300"/>
            <a:ext cx="7010400" cy="49828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500000" cy="830997"/>
          </a:xfrm>
        </p:spPr>
        <p:txBody>
          <a:bodyPr>
            <a:normAutofit/>
          </a:bodyPr>
          <a:lstStyle/>
          <a:p>
            <a:r>
              <a:rPr lang="en-GB" dirty="0"/>
              <a:t>Overall Correlation Analysis</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71500" y="1300200"/>
            <a:ext cx="8000000" cy="700000"/>
          </a:xfrm>
        </p:spPr>
        <p:txBody>
          <a:bodyPr/>
          <a:lstStyle/>
          <a:p>
            <a:pPr marL="0" indent="0">
              <a:buNone/>
            </a:pPr>
            <a:r>
              <a:rPr lang="en-US" dirty="0"/>
              <a:t>Correlation matrix highlighting which factors most strongly influence yield and profit.</a:t>
            </a:r>
            <a:endParaRPr lang="en-IN" dirty="0"/>
          </a:p>
        </p:txBody>
      </p:sp>
      <p:pic>
        <p:nvPicPr>
          <p:cNvPr id="500" name="Chart"/>
          <p:cNvPicPr>
            <a:picLocks noChangeAspect="1"/>
          </p:cNvPicPr>
          <p:nvPr/>
        </p:nvPicPr>
        <p:blipFill>
          <a:blip r:embed="rId3"/>
          <a:stretch>
            <a:fillRect/>
          </a:stretch>
        </p:blipFill>
        <p:spPr>
          <a:xfrm>
            <a:off x="1920200" y="2150000"/>
            <a:ext cx="5075000" cy="43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97</cp:revision>
  <dcterms:created xsi:type="dcterms:W3CDTF">2021-07-11T13:13:15Z</dcterms:created>
  <dcterms:modified xsi:type="dcterms:W3CDTF">2026-09-02T10:35:59Z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